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92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56032" y="5486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ITINERARY PLANNER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14299" y="180086"/>
            <a:ext cx="1745673" cy="274320"/>
          </a:xfrm>
          <a:prstGeom prst="roundRect">
            <a:avLst>
              <a:gd name="adj" fmla="val 2000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14299" y="180086"/>
            <a:ext cx="17456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82459" y="173736"/>
            <a:ext cx="14603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E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Luv Pahwa  ·  AWS Bedrock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" y="804672"/>
            <a:ext cx="2670048" cy="1290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804672"/>
            <a:ext cx="2670048" cy="716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0896" y="896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8541" y="1137666"/>
            <a:ext cx="2633472" cy="559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by interests or budget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 in place suggestions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validation or source transparency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outputs from traditional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36392" y="804672"/>
            <a:ext cx="2788920" cy="1290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36392" y="804672"/>
            <a:ext cx="2779776" cy="716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896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A7E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56813" y="1137666"/>
            <a:ext cx="2862072" cy="595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5-agent pipeline: Supervisor → Retriever → Planner → Validator → Scorer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ChromaDB — source-grounded outputs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hallucination validation layer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scoring + user feedback loop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71615" y="804672"/>
            <a:ext cx="2871217" cy="1290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71616" y="804672"/>
            <a:ext cx="2871216" cy="71628"/>
          </a:xfrm>
          <a:prstGeom prst="rect">
            <a:avLst/>
          </a:prstGeom>
          <a:solidFill>
            <a:srgbClr val="05A88E"/>
          </a:solidFill>
          <a:ln w="12700">
            <a:solidFill>
              <a:srgbClr val="05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81344" y="896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5A8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ARCHITECTURE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92698" y="1137666"/>
            <a:ext cx="2688336" cy="809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</a:t>
            </a:r>
            <a:r>
              <a:rPr lang="en-US" sz="8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Backend: FastAPI + LangGraph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AWS Bedrock (Claude Haiku)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</a:t>
            </a:r>
            <a:r>
              <a:rPr lang="en-US" sz="8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8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Embed: all-MiniLM-L6-v2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SQLite  ·  Eval: Faithfulness + BERTScore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" y="21320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</a:t>
            </a:r>
            <a:r>
              <a:rPr lang="en-US" sz="900" b="1" kern="0" spc="150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" y="2328872"/>
            <a:ext cx="8741664" cy="22860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424684"/>
            <a:ext cx="1572768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24886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27355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extraction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routing</a:t>
            </a:r>
            <a:endParaRPr lang="en-US" sz="900" b="1" dirty="0"/>
          </a:p>
        </p:txBody>
      </p:sp>
      <p:sp>
        <p:nvSpPr>
          <p:cNvPr id="25" name="Shape 23"/>
          <p:cNvSpPr/>
          <p:nvPr/>
        </p:nvSpPr>
        <p:spPr>
          <a:xfrm>
            <a:off x="1965960" y="2884932"/>
            <a:ext cx="82296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029968" y="2852928"/>
            <a:ext cx="50292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084832" y="2424684"/>
            <a:ext cx="1572768" cy="7498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84832" y="24886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30552" y="27355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query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+ meta</a:t>
            </a:r>
            <a:endParaRPr lang="en-US" sz="900" b="1" dirty="0"/>
          </a:p>
        </p:txBody>
      </p:sp>
      <p:sp>
        <p:nvSpPr>
          <p:cNvPr id="30" name="Shape 28"/>
          <p:cNvSpPr/>
          <p:nvPr/>
        </p:nvSpPr>
        <p:spPr>
          <a:xfrm>
            <a:off x="3666744" y="2884932"/>
            <a:ext cx="82296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730752" y="2852928"/>
            <a:ext cx="50292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85616" y="2424684"/>
            <a:ext cx="1572768" cy="749808"/>
          </a:xfrm>
          <a:prstGeom prst="rect">
            <a:avLst/>
          </a:prstGeom>
          <a:solidFill>
            <a:srgbClr val="05A88E"/>
          </a:solidFill>
          <a:ln w="12700">
            <a:solidFill>
              <a:srgbClr val="05A88E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85616" y="24886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31336" y="27355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itinerary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breakdown</a:t>
            </a:r>
            <a:endParaRPr lang="en-US" sz="900" b="1" dirty="0"/>
          </a:p>
        </p:txBody>
      </p:sp>
      <p:sp>
        <p:nvSpPr>
          <p:cNvPr id="35" name="Shape 33"/>
          <p:cNvSpPr/>
          <p:nvPr/>
        </p:nvSpPr>
        <p:spPr>
          <a:xfrm>
            <a:off x="5367528" y="2884932"/>
            <a:ext cx="82296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431536" y="2852928"/>
            <a:ext cx="50292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486400" y="2424684"/>
            <a:ext cx="157276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0" y="24886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27355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REVISE / REJECT</a:t>
            </a:r>
            <a:endParaRPr lang="en-US" sz="900" b="1" dirty="0"/>
          </a:p>
        </p:txBody>
      </p:sp>
      <p:sp>
        <p:nvSpPr>
          <p:cNvPr id="40" name="Shape 38"/>
          <p:cNvSpPr/>
          <p:nvPr/>
        </p:nvSpPr>
        <p:spPr>
          <a:xfrm>
            <a:off x="7068312" y="2884932"/>
            <a:ext cx="82296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132320" y="2852928"/>
            <a:ext cx="50292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187184" y="2424684"/>
            <a:ext cx="1572768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87184" y="24886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32904" y="27355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score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D4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log</a:t>
            </a:r>
            <a:endParaRPr lang="en-US" sz="900" b="1" dirty="0"/>
          </a:p>
        </p:txBody>
      </p:sp>
      <p:sp>
        <p:nvSpPr>
          <p:cNvPr id="45" name="Shape 43"/>
          <p:cNvSpPr/>
          <p:nvPr/>
        </p:nvSpPr>
        <p:spPr>
          <a:xfrm>
            <a:off x="201168" y="3285236"/>
            <a:ext cx="3749040" cy="1542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01168" y="3285236"/>
            <a:ext cx="3749040" cy="502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10896" y="33766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PHASES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896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10896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01752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49808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49808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0664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188720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05A88E"/>
          </a:solidFill>
          <a:ln w="12700">
            <a:solidFill>
              <a:srgbClr val="05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188720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79576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627632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627632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618488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2066544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2066544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057400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505456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505456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496312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944368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944368" y="365379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935224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383280" y="3623564"/>
            <a:ext cx="418795" cy="566928"/>
          </a:xfrm>
          <a:prstGeom prst="roundRect">
            <a:avLst>
              <a:gd name="adj" fmla="val 131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3383280" y="3660140"/>
            <a:ext cx="418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374136" y="3916172"/>
            <a:ext cx="4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8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Demo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12064" y="4254500"/>
            <a:ext cx="3200400" cy="182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10896" y="4327652"/>
            <a:ext cx="363931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roadmap: data prep → vector DB → agents → validation → accuracy → UI demo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069080" y="3336313"/>
            <a:ext cx="1920240" cy="152954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4069080" y="3281172"/>
            <a:ext cx="1920240" cy="45720"/>
          </a:xfrm>
          <a:prstGeom prst="rect">
            <a:avLst/>
          </a:prstGeom>
          <a:solidFill>
            <a:srgbClr val="05A88E"/>
          </a:solidFill>
          <a:ln w="12700">
            <a:solidFill>
              <a:srgbClr val="05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160520" y="3360420"/>
            <a:ext cx="1755648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5A8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OUTPUT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60520" y="3630815"/>
            <a:ext cx="1737360" cy="216131"/>
          </a:xfrm>
          <a:prstGeom prst="roundRect">
            <a:avLst>
              <a:gd name="adj" fmla="val 19231"/>
            </a:avLst>
          </a:prstGeom>
          <a:solidFill>
            <a:srgbClr val="EAF7F4"/>
          </a:solidFill>
          <a:ln w="12700">
            <a:solidFill>
              <a:srgbClr val="05A8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210558" y="3624465"/>
            <a:ext cx="1700784" cy="216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5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Goa  ·  ₹15,000</a:t>
            </a:r>
            <a:endParaRPr lang="en-US" sz="780" dirty="0"/>
          </a:p>
        </p:txBody>
      </p:sp>
      <p:sp>
        <p:nvSpPr>
          <p:cNvPr id="79" name="Text 77"/>
          <p:cNvSpPr/>
          <p:nvPr/>
        </p:nvSpPr>
        <p:spPr>
          <a:xfrm>
            <a:off x="4141470" y="3886061"/>
            <a:ext cx="1755648" cy="881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₹12,800   </a:t>
            </a: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r>
              <a:rPr lang="en-US" sz="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88% HIGH</a:t>
            </a:r>
            <a:endParaRPr lang="en-US" sz="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Calangute + local food</a:t>
            </a:r>
            <a:endParaRPr lang="en-US" sz="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Fort Aguada + Baga</a:t>
            </a:r>
            <a:endParaRPr lang="en-US" sz="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Anjuna + shopping</a:t>
            </a:r>
            <a:endParaRPr lang="en-US" sz="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goa_attractions.csv</a:t>
            </a:r>
            <a:endParaRPr lang="en-US" sz="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1–5 ★ captured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08192" y="3272536"/>
            <a:ext cx="2834640" cy="164871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D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108192" y="3272536"/>
            <a:ext cx="2834640" cy="502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236208" y="3337814"/>
            <a:ext cx="2633472" cy="20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154674" y="3547110"/>
            <a:ext cx="2323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validation eliminates hallucinations</a:t>
            </a:r>
            <a:endParaRPr lang="en-US" sz="8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ensure full transparency</a:t>
            </a:r>
            <a:endParaRPr lang="en-US" sz="8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via user feedback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6108192" y="4150360"/>
            <a:ext cx="283464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236208" y="4214368"/>
            <a:ext cx="2633472" cy="20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154674" y="4364460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data → Improve source coverage</a:t>
            </a:r>
            <a:endParaRPr lang="en-US" sz="8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→ Validation + grounding</a:t>
            </a:r>
            <a:endParaRPr lang="en-US" sz="82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errors → Strict numeric checks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dirty="0">
                <a:solidFill>
                  <a:srgbClr val="7E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LangGraph  ·  ChromaDB  ·  Streamlit  ·  Claude Haiku  ·  FastAPI  ·  SQLite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272</Words>
  <Application>Microsoft Office PowerPoint</Application>
  <PresentationFormat>On-screen Show (16:9)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Luv Pahwa</cp:lastModifiedBy>
  <cp:revision>2</cp:revision>
  <dcterms:created xsi:type="dcterms:W3CDTF">2026-05-22T18:47:52Z</dcterms:created>
  <dcterms:modified xsi:type="dcterms:W3CDTF">2026-05-22T19:56:32Z</dcterms:modified>
</cp:coreProperties>
</file>